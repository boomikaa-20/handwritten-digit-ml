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template - Minor Project review presentation for B.Tech II year. Replace every placeholder in angle brackets. Title slide: speak for 30 seconds - greet the panel, state the title, introduce the team and the guide. Do not read the slide word for word.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agenda to one slide. In a 10-12 minute review, spend the most time on literature survey, objectives and work completed.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60-90 seconds. Start broad (the domain), end narrow (your specific task). Avoid definitions copied from Wikipedia - the panel will ask for the source.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problem statement must be ONE sentence. If you need two sentences, the scope is too wide for a minor project. The panel's first question is usually: who exactly benefits?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read the table aloud. Speak about the trend: what most papers did, what results they reached, and what all of them left unsolved. Row 1 is a worked example - delete it and put your own paper there.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that separates a good review from an average one. State 2-3 gaps only, and make sure each one maps to a paper you listed.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Avoid vague verbs - study, understand, analyse. Use build, classify, detect, compare, deploy. Four objectives is the right number for a minor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panel through the diagram left to right in under a minute, naming the input and the output first. Be ready to say where your contribution sits.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module per team member works well - it also answers the panel question 'who did what'.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versions where you know them. If you have a GitHub repository, show the link here - it is strong evidence of real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about status. Panels reward accurate self-assessment and penalise claims that fall apart under one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Adjust week numbers to your academic calendar. Showing a plan for the remaining weeks is what the panel wants to hear at Review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introduce anything new here. The conclusion restates the problem, the gap and the promise - nothing else.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Google Scholar's 'Cite' option and pick MLA/IEEE, then fix the formatting by hand. Never cite a blog, a YouTube video or a paper you have not opened.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deck open on the architecture slide during questions - most panel questions point back to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8A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KL UNIVERSITY  •  BACHUPALLY CAMPUS, HYDERABAD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04672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BB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Department of Computer Science &amp; Engineering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108813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Handwritten Digit Recogniser with a Drawing Canvas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542032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C8A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Recognising handwritten digits drawn by a user using PCA and an SVM classifier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5577840" cy="2148840"/>
          </a:xfrm>
          <a:prstGeom prst="roundRect">
            <a:avLst>
              <a:gd name="adj" fmla="val 3404"/>
            </a:avLst>
          </a:prstGeom>
          <a:solidFill>
            <a:srgbClr val="1B2A55"/>
          </a:solidFill>
          <a:ln w="12700">
            <a:solidFill>
              <a:srgbClr val="2E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3364992"/>
            <a:ext cx="5120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C8A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PRESENTED BY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657600"/>
            <a:ext cx="512064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2520030010   G Boomika Sre</a:t>
            </a:r>
            <a:endParaRPr lang="en-US" sz="145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2520030174   P. Nehasree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92240" y="3200400"/>
            <a:ext cx="5029200" cy="2148840"/>
          </a:xfrm>
          <a:prstGeom prst="roundRect">
            <a:avLst>
              <a:gd name="adj" fmla="val 3404"/>
            </a:avLst>
          </a:prstGeom>
          <a:solidFill>
            <a:srgbClr val="1B2A55"/>
          </a:solidFill>
          <a:ln w="12700">
            <a:solidFill>
              <a:srgbClr val="2E3F6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720840" y="3364992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C8A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UNDER THE GUIDANCE OF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720840" y="370332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Mr. Raghavendra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720840" y="4069080"/>
            <a:ext cx="4572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BB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Designation, Department of CSE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EBB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KLH Bachupally Campus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5806440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C9BB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Machine Learning (25SC2107E)  |  Sec 1 - Team 19  |  Y25 2026-27 Trimester 4  |  Date: 13-10-2026</a:t>
            </a:r>
            <a:endParaRPr lang="en-US" sz="1150" dirty="0">
              <a:solidFill>
                <a:srgbClr val="8C9BB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8A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AGENDA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B2A5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Contents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49240" cy="603504"/>
          </a:xfrm>
          <a:prstGeom prst="roundRect">
            <a:avLst>
              <a:gd name="adj" fmla="val 121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27048"/>
            <a:ext cx="384048" cy="384048"/>
          </a:xfrm>
          <a:prstGeom prst="ellipse">
            <a:avLst/>
          </a:prstGeom>
          <a:solidFill>
            <a:srgbClr val="C8A02C"/>
          </a:solidFill>
        </p:spPr>
      </p:sp>
      <p:sp>
        <p:nvSpPr>
          <p:cNvPr id="6" name="Text 4"/>
          <p:cNvSpPr txBox="1"/>
          <p:nvPr/>
        </p:nvSpPr>
        <p:spPr>
          <a:xfrm>
            <a:off x="731520" y="152704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61872" y="1417320"/>
            <a:ext cx="452628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Introduction &amp; Domain Background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167128"/>
            <a:ext cx="5349240" cy="603504"/>
          </a:xfrm>
          <a:prstGeom prst="roundRect">
            <a:avLst>
              <a:gd name="adj" fmla="val 121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276856"/>
            <a:ext cx="384048" cy="384048"/>
          </a:xfrm>
          <a:prstGeom prst="ellipse">
            <a:avLst/>
          </a:prstGeom>
          <a:solidFill>
            <a:srgbClr val="C8A02C"/>
          </a:solidFill>
        </p:spPr>
      </p:sp>
      <p:sp>
        <p:nvSpPr>
          <p:cNvPr id="10" name="Text 8"/>
          <p:cNvSpPr txBox="1"/>
          <p:nvPr/>
        </p:nvSpPr>
        <p:spPr>
          <a:xfrm>
            <a:off x="731520" y="227685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261872" y="2167128"/>
            <a:ext cx="452628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 Statement &amp; Motivation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916936"/>
            <a:ext cx="5349240" cy="603504"/>
          </a:xfrm>
          <a:prstGeom prst="roundRect">
            <a:avLst>
              <a:gd name="adj" fmla="val 121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3026664"/>
            <a:ext cx="384048" cy="384048"/>
          </a:xfrm>
          <a:prstGeom prst="ellipse">
            <a:avLst/>
          </a:prstGeom>
          <a:solidFill>
            <a:srgbClr val="C8A02C"/>
          </a:solidFill>
        </p:spPr>
      </p:sp>
      <p:sp>
        <p:nvSpPr>
          <p:cNvPr id="14" name="Text 12"/>
          <p:cNvSpPr txBox="1"/>
          <p:nvPr/>
        </p:nvSpPr>
        <p:spPr>
          <a:xfrm>
            <a:off x="731520" y="302666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261872" y="2916936"/>
            <a:ext cx="452628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Literature Survey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666744"/>
            <a:ext cx="5349240" cy="603504"/>
          </a:xfrm>
          <a:prstGeom prst="roundRect">
            <a:avLst>
              <a:gd name="adj" fmla="val 121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3776472"/>
            <a:ext cx="384048" cy="384048"/>
          </a:xfrm>
          <a:prstGeom prst="ellipse">
            <a:avLst/>
          </a:prstGeom>
          <a:solidFill>
            <a:srgbClr val="C8A02C"/>
          </a:solidFill>
        </p:spPr>
      </p:sp>
      <p:sp>
        <p:nvSpPr>
          <p:cNvPr id="18" name="Text 16"/>
          <p:cNvSpPr txBox="1"/>
          <p:nvPr/>
        </p:nvSpPr>
        <p:spPr>
          <a:xfrm>
            <a:off x="731520" y="377647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261872" y="3666744"/>
            <a:ext cx="452628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Research Gap Identified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416552"/>
            <a:ext cx="5349240" cy="603504"/>
          </a:xfrm>
          <a:prstGeom prst="roundRect">
            <a:avLst>
              <a:gd name="adj" fmla="val 121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4526280"/>
            <a:ext cx="384048" cy="384048"/>
          </a:xfrm>
          <a:prstGeom prst="ellipse">
            <a:avLst/>
          </a:prstGeom>
          <a:solidFill>
            <a:srgbClr val="C8A02C"/>
          </a:solidFill>
        </p:spPr>
      </p:sp>
      <p:sp>
        <p:nvSpPr>
          <p:cNvPr id="22" name="Text 20"/>
          <p:cNvSpPr txBox="1"/>
          <p:nvPr/>
        </p:nvSpPr>
        <p:spPr>
          <a:xfrm>
            <a:off x="731520" y="452628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261872" y="4416552"/>
            <a:ext cx="452628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Objectives of the Project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5166360"/>
            <a:ext cx="5349240" cy="603504"/>
          </a:xfrm>
          <a:prstGeom prst="roundRect">
            <a:avLst>
              <a:gd name="adj" fmla="val 121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5276088"/>
            <a:ext cx="384048" cy="384048"/>
          </a:xfrm>
          <a:prstGeom prst="ellipse">
            <a:avLst/>
          </a:prstGeom>
          <a:solidFill>
            <a:srgbClr val="C8A02C"/>
          </a:solidFill>
        </p:spPr>
      </p:sp>
      <p:sp>
        <p:nvSpPr>
          <p:cNvPr id="26" name="Text 24"/>
          <p:cNvSpPr txBox="1"/>
          <p:nvPr/>
        </p:nvSpPr>
        <p:spPr>
          <a:xfrm>
            <a:off x="731520" y="527608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261872" y="5166360"/>
            <a:ext cx="452628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Proposed System Architecture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217920" y="1417320"/>
            <a:ext cx="5349240" cy="603504"/>
          </a:xfrm>
          <a:prstGeom prst="roundRect">
            <a:avLst>
              <a:gd name="adj" fmla="val 121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0" y="1527048"/>
            <a:ext cx="384048" cy="384048"/>
          </a:xfrm>
          <a:prstGeom prst="ellipse">
            <a:avLst/>
          </a:prstGeom>
          <a:solidFill>
            <a:srgbClr val="C8A02C"/>
          </a:solidFill>
        </p:spPr>
      </p:sp>
      <p:sp>
        <p:nvSpPr>
          <p:cNvPr id="30" name="Text 28"/>
          <p:cNvSpPr txBox="1"/>
          <p:nvPr/>
        </p:nvSpPr>
        <p:spPr>
          <a:xfrm>
            <a:off x="6400800" y="152704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931152" y="1417320"/>
            <a:ext cx="452628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Methodology &amp; Modules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217920" y="2167128"/>
            <a:ext cx="5349240" cy="603504"/>
          </a:xfrm>
          <a:prstGeom prst="roundRect">
            <a:avLst>
              <a:gd name="adj" fmla="val 121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00800" y="2276856"/>
            <a:ext cx="384048" cy="384048"/>
          </a:xfrm>
          <a:prstGeom prst="ellipse">
            <a:avLst/>
          </a:prstGeom>
          <a:solidFill>
            <a:srgbClr val="C8A02C"/>
          </a:solidFill>
        </p:spPr>
      </p:sp>
      <p:sp>
        <p:nvSpPr>
          <p:cNvPr id="34" name="Text 32"/>
          <p:cNvSpPr txBox="1"/>
          <p:nvPr/>
        </p:nvSpPr>
        <p:spPr>
          <a:xfrm>
            <a:off x="6400800" y="227685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6931152" y="2167128"/>
            <a:ext cx="452628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Tools and Technologies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217920" y="2916936"/>
            <a:ext cx="5349240" cy="603504"/>
          </a:xfrm>
          <a:prstGeom prst="roundRect">
            <a:avLst>
              <a:gd name="adj" fmla="val 121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00800" y="3026664"/>
            <a:ext cx="384048" cy="384048"/>
          </a:xfrm>
          <a:prstGeom prst="ellipse">
            <a:avLst/>
          </a:prstGeom>
          <a:solidFill>
            <a:srgbClr val="C8A02C"/>
          </a:solidFill>
        </p:spPr>
      </p:sp>
      <p:sp>
        <p:nvSpPr>
          <p:cNvPr id="38" name="Text 36"/>
          <p:cNvSpPr txBox="1"/>
          <p:nvPr/>
        </p:nvSpPr>
        <p:spPr>
          <a:xfrm>
            <a:off x="6400800" y="302666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6931152" y="2916936"/>
            <a:ext cx="452628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Work Completed / Demo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217920" y="3666744"/>
            <a:ext cx="5349240" cy="603504"/>
          </a:xfrm>
          <a:prstGeom prst="roundRect">
            <a:avLst>
              <a:gd name="adj" fmla="val 121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400800" y="3776472"/>
            <a:ext cx="384048" cy="384048"/>
          </a:xfrm>
          <a:prstGeom prst="ellipse">
            <a:avLst/>
          </a:prstGeom>
          <a:solidFill>
            <a:srgbClr val="C8A02C"/>
          </a:solidFill>
        </p:spPr>
      </p:sp>
      <p:sp>
        <p:nvSpPr>
          <p:cNvPr id="42" name="Text 40"/>
          <p:cNvSpPr txBox="1"/>
          <p:nvPr/>
        </p:nvSpPr>
        <p:spPr>
          <a:xfrm>
            <a:off x="6400800" y="377647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6931152" y="3666744"/>
            <a:ext cx="452628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Timeline &amp; Review Plan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6217920" y="4416552"/>
            <a:ext cx="5349240" cy="603504"/>
          </a:xfrm>
          <a:prstGeom prst="roundRect">
            <a:avLst>
              <a:gd name="adj" fmla="val 121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00800" y="4526280"/>
            <a:ext cx="384048" cy="384048"/>
          </a:xfrm>
          <a:prstGeom prst="ellipse">
            <a:avLst/>
          </a:prstGeom>
          <a:solidFill>
            <a:srgbClr val="C8A02C"/>
          </a:solidFill>
        </p:spPr>
      </p:sp>
      <p:sp>
        <p:nvSpPr>
          <p:cNvPr id="46" name="Text 44"/>
          <p:cNvSpPr txBox="1"/>
          <p:nvPr/>
        </p:nvSpPr>
        <p:spPr>
          <a:xfrm>
            <a:off x="6400800" y="452628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6931152" y="4416552"/>
            <a:ext cx="452628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Expected Outcome &amp; Conclusion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6217920" y="5166360"/>
            <a:ext cx="5349240" cy="603504"/>
          </a:xfrm>
          <a:prstGeom prst="roundRect">
            <a:avLst>
              <a:gd name="adj" fmla="val 121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400800" y="5276088"/>
            <a:ext cx="384048" cy="384048"/>
          </a:xfrm>
          <a:prstGeom prst="ellipse">
            <a:avLst/>
          </a:prstGeom>
          <a:solidFill>
            <a:srgbClr val="C8A02C"/>
          </a:solidFill>
        </p:spPr>
      </p:sp>
      <p:sp>
        <p:nvSpPr>
          <p:cNvPr id="50" name="Text 48"/>
          <p:cNvSpPr txBox="1"/>
          <p:nvPr/>
        </p:nvSpPr>
        <p:spPr>
          <a:xfrm>
            <a:off x="6400800" y="527608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1300" dirty="0"/>
          </a:p>
        </p:txBody>
      </p:sp>
      <p:sp>
        <p:nvSpPr>
          <p:cNvPr id="51" name="Text 49"/>
          <p:cNvSpPr txBox="1"/>
          <p:nvPr/>
        </p:nvSpPr>
        <p:spPr>
          <a:xfrm>
            <a:off x="6931152" y="5166360"/>
            <a:ext cx="452628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References</a:t>
            </a:r>
            <a:endParaRPr lang="en-US" sz="1400" dirty="0"/>
          </a:p>
        </p:txBody>
      </p:sp>
      <p:sp>
        <p:nvSpPr>
          <p:cNvPr id="52" name="Text 50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Dept. of CSE  |  KL University, Bachupally Campus</a:t>
            </a:r>
            <a:endParaRPr lang="en-US" sz="950" dirty="0"/>
          </a:p>
        </p:txBody>
      </p:sp>
      <p:sp>
        <p:nvSpPr>
          <p:cNvPr id="53" name="Text 51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8A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1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B2A5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Introduction &amp; Domain Background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583680" cy="4480560"/>
          </a:xfrm>
          <a:prstGeom prst="roundRect">
            <a:avLst>
              <a:gd name="adj" fmla="val 1633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68680" y="1691640"/>
            <a:ext cx="6035040" cy="3931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1B2A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is the domain?</a:t>
            </a:r>
            <a:endParaRPr lang="en-US" sz="15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35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Handwritten digit recognition means teaching a computer to read digits (0-9) using machine learning, instead of fixed rules.</a:t>
            </a:r>
            <a:endParaRPr lang="en-US" sz="15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endParaRPr lang="en-US" sz="15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1B2A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is it relevant today?</a:t>
            </a:r>
            <a:endParaRPr lang="en-US" sz="15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35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PCA + SVM models reach 98-99% accuracy on MNIST [1][2]; similar technology is used in character recognition, document scanning and digital forms.</a:t>
            </a:r>
            <a:endParaRPr lang="en-US" sz="15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endParaRPr lang="en-US" sz="15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1B2A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Where does your project sit?</a:t>
            </a:r>
            <a:endParaRPr lang="en-US" sz="15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35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 reduce each digit image to key features with PCA, classify it using SVM, and let users test it with a digit they draw in Paint / MS Whiteboard.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406640" y="1417320"/>
            <a:ext cx="420624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9AA5B8"/>
            </a:solidFill>
            <a:prstDash val="dash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7406640" y="4434840"/>
            <a:ext cx="4206240" cy="1463040"/>
          </a:xfrm>
          <a:prstGeom prst="roundRect">
            <a:avLst>
              <a:gd name="adj" fmla="val 5000"/>
            </a:avLst>
          </a:prstGeom>
          <a:solidFill>
            <a:srgbClr val="FDF6E6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635240" y="4572000"/>
            <a:ext cx="3749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A416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Panel tip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7635240" y="4864608"/>
            <a:ext cx="37490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claim on this slide must be traceable to a reference on the last slide.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Dept. of CSE  |  KL University, Bachupally Campus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50" dirty="0"/>
          </a:p>
        </p:txBody>
      </p:sp>
      <p:pic>
        <p:nvPicPr>
          <p:cNvPr id="13" name="Picture 12" descr="domain_digit_pipe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0" y="1417320"/>
            <a:ext cx="3931920" cy="2834640"/>
          </a:xfrm>
          <a:prstGeom prst="rect">
            <a:avLst/>
          </a:prstGeom>
          <a:ln w="12700">
            <a:solidFill>
              <a:srgbClr val="D2DCE8"/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8A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2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B2A5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Problem Statement &amp; Motivation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1600200"/>
          </a:xfrm>
          <a:prstGeom prst="roundRect">
            <a:avLst>
              <a:gd name="adj" fmla="val 4571"/>
            </a:avLst>
          </a:prstGeom>
          <a:solidFill>
            <a:srgbClr val="F7EAEA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17320"/>
            <a:ext cx="109728" cy="1600200"/>
          </a:xfrm>
          <a:prstGeom prst="roundRect">
            <a:avLst>
              <a:gd name="adj" fmla="val 41667"/>
            </a:avLst>
          </a:prstGeom>
          <a:solidFill>
            <a:srgbClr val="A4161A"/>
          </a:solidFill>
          <a:ln w="12700">
            <a:solidFill>
              <a:srgbClr val="A4161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627632"/>
            <a:ext cx="10424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A416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 STATEMENT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1920240"/>
            <a:ext cx="104241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5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" Most digit-recognition demos only classify pre-existing dataset images because they lack a live input interface, which results in users being unable to test the model with their own handwriting. "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3291840"/>
            <a:ext cx="3520440" cy="2606040"/>
          </a:xfrm>
          <a:prstGeom prst="roundRect">
            <a:avLst>
              <a:gd name="adj" fmla="val 2807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3520440"/>
            <a:ext cx="384048" cy="384048"/>
          </a:xfrm>
          <a:prstGeom prst="ellipse">
            <a:avLst/>
          </a:prstGeom>
          <a:solidFill>
            <a:srgbClr val="C8A02C"/>
          </a:solidFill>
        </p:spPr>
      </p:sp>
      <p:sp>
        <p:nvSpPr>
          <p:cNvPr id="10" name="Text 8"/>
          <p:cNvSpPr txBox="1"/>
          <p:nvPr/>
        </p:nvSpPr>
        <p:spPr>
          <a:xfrm>
            <a:off x="777240" y="352044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023360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Who is affected?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526280"/>
            <a:ext cx="306324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Students and developers learning ML/CV, and systems that read handwritten digits - character recognition, document scanning, digital forms.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297680" y="3291840"/>
            <a:ext cx="3520440" cy="2606040"/>
          </a:xfrm>
          <a:prstGeom prst="roundRect">
            <a:avLst>
              <a:gd name="adj" fmla="val 2807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26280" y="3520440"/>
            <a:ext cx="384048" cy="384048"/>
          </a:xfrm>
          <a:prstGeom prst="ellipse">
            <a:avLst/>
          </a:prstGeom>
          <a:solidFill>
            <a:srgbClr val="C8A02C"/>
          </a:solidFill>
        </p:spPr>
      </p:sp>
      <p:sp>
        <p:nvSpPr>
          <p:cNvPr id="15" name="Text 13"/>
          <p:cNvSpPr txBox="1"/>
          <p:nvPr/>
        </p:nvSpPr>
        <p:spPr>
          <a:xfrm>
            <a:off x="4526280" y="352044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26280" y="4023360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is the cost of the problem?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526280" y="4526280"/>
            <a:ext cx="306324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Manual entry and verification of handwritten numeric data is slow and error-prone, and most published models are tested only on static datasets, not live user input.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046720" y="3291840"/>
            <a:ext cx="3520440" cy="2606040"/>
          </a:xfrm>
          <a:prstGeom prst="roundRect">
            <a:avLst>
              <a:gd name="adj" fmla="val 2807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75320" y="3520440"/>
            <a:ext cx="384048" cy="384048"/>
          </a:xfrm>
          <a:prstGeom prst="ellipse">
            <a:avLst/>
          </a:prstGeom>
          <a:solidFill>
            <a:srgbClr val="C8A02C"/>
          </a:solidFill>
        </p:spPr>
      </p:sp>
      <p:sp>
        <p:nvSpPr>
          <p:cNvPr id="20" name="Text 18"/>
          <p:cNvSpPr txBox="1"/>
          <p:nvPr/>
        </p:nvSpPr>
        <p:spPr>
          <a:xfrm>
            <a:off x="8275320" y="352044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275320" y="4023360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solve it now?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275320" y="4526280"/>
            <a:ext cx="306324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PCA + SVM already reach 98%+ accuracy on MNIST, so it's practical enough for a real, interactive demo without needing deep learning.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Dept. of CSE  |  KL University, Bachupally Campus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8A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3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B2A5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Literature Survey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Minimum 8-10 papers studied; show 4-5 of the most relevant here (2020 onwards, journals/conferences only - no blogs).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548640" y="1572768"/>
          <a:ext cx="11064240" cy="3255264"/>
        </p:xfrm>
        <a:graphic>
          <a:graphicData uri="http://schemas.openxmlformats.org/drawingml/2006/table">
            <a:tbl>
              <a:tblPr/>
              <a:tblGrid>
                <a:gridCol w="548640"/>
                <a:gridCol w="1554480"/>
                <a:gridCol w="2743200"/>
                <a:gridCol w="1737360"/>
                <a:gridCol w="2286000"/>
                <a:gridCol w="2194560"/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F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S.No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F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Author &amp; Year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F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Title / Technique Used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F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Dataset / Tools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F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Key Findings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F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Limitation / Gap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Al-Hamadani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(2023)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PCA + SVM classification on MNIST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MNIST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(70k images)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Python, scikit-learn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SVM (linear &amp; non-linear) classified MNIST effectively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Tested only on static dataset images, no live user input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Das et al. (2018)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HOG features + PCA + SVM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MNIST, EAI Trans.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99.29% accuracy, speed close to a CNN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 end-user interface for live handwriting input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Mohammadpoor et al. (2018)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HOG + PCA + SVM classifier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HODA digits, Majlesi J.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99% recognition accuracy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Limited to pre-captured digit images, not real-time drawing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Ismailova &amp; Lu (2015)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2D-DCT based sparse PCA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MNIST, IEEE PACRIM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35.7% faster than standard PCA, same accuracy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 interactive canvas or deployment layer discussed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3"/>
          <p:cNvSpPr txBox="1"/>
          <p:nvPr/>
        </p:nvSpPr>
        <p:spPr>
          <a:xfrm>
            <a:off x="548640" y="5440680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A416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last column is the most important one - your research gap is built from it.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Dept. of CSE  |  KL University, Bachupally Campus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8A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4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B2A5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Research Gap Identified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766560" cy="987552"/>
          </a:xfrm>
          <a:prstGeom prst="roundRect">
            <a:avLst>
              <a:gd name="adj" fmla="val 7407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591056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C8A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GAP 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1847088"/>
            <a:ext cx="6172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Data-level gap - most PCA/SVM studies test only on the fixed MNIST test set, never on digits a user draws themselves.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6766560" cy="987552"/>
          </a:xfrm>
          <a:prstGeom prst="roundRect">
            <a:avLst>
              <a:gd name="adj" fmla="val 7407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734056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C8A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GAP 2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990088"/>
            <a:ext cx="6172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Method-level gap - papers report accuracy but rarely explain how to turn a messy canvas sketch into clean input the model expects.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749040"/>
            <a:ext cx="6766560" cy="987552"/>
          </a:xfrm>
          <a:prstGeom prst="roundRect">
            <a:avLst>
              <a:gd name="adj" fmla="val 7407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3877056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C8A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GAP 3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4133088"/>
            <a:ext cx="6172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Deployment gap - no existing work bundles a trained PCA + SVM model with a simple app for users to try their own drawn digits.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635240" y="1463040"/>
            <a:ext cx="3977640" cy="3502152"/>
          </a:xfrm>
          <a:prstGeom prst="roundRect">
            <a:avLst>
              <a:gd name="adj" fmla="val 2089"/>
            </a:avLst>
          </a:prstGeom>
          <a:solidFill>
            <a:srgbClr val="1B2A55"/>
          </a:solidFill>
          <a:ln w="12700">
            <a:solidFill>
              <a:srgbClr val="1B2A5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909560" y="1691640"/>
            <a:ext cx="3429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C8A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OUR PROJECT ADDRESSES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7909560" y="2057400"/>
            <a:ext cx="342900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We close the deployment gap by pairing PCA + SVM with digits the user draws in Paint / MS Whiteboard, so predictions run on real handwriting, not just dataset images.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7909560" y="3977640"/>
            <a:ext cx="34290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EBB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gap is a sentence that begins with "No existing work has..." or "Existing work does not..."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120640"/>
            <a:ext cx="67665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Rule: every gap here must come from the last column of the literature survey table. A gap you cannot trace to a paper will be rejected by the panel.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Dept. of CSE  |  KL University, Bachupally Campus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8A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5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B2A5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Objectives of the Project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Write 3-4 objectives. Each one must start with an action verb and be something you can demonstrate by the final review.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627632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892808"/>
            <a:ext cx="384048" cy="384048"/>
          </a:xfrm>
          <a:prstGeom prst="ellipse">
            <a:avLst/>
          </a:prstGeom>
          <a:solidFill>
            <a:srgbClr val="C8A02C"/>
          </a:solidFill>
        </p:spPr>
      </p:sp>
      <p:sp>
        <p:nvSpPr>
          <p:cNvPr id="7" name="Text 5"/>
          <p:cNvSpPr txBox="1"/>
          <p:nvPr/>
        </p:nvSpPr>
        <p:spPr>
          <a:xfrm>
            <a:off x="822960" y="189280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627632"/>
            <a:ext cx="99669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 collect / prepare </a:t>
            </a:r>
            <a:r>
              <a:rPr lang="en-US" sz="145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MNIST dataset of 70,000 labelled handwritten digit images (60,000 train / 10,000 test).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706624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971800"/>
            <a:ext cx="384048" cy="384048"/>
          </a:xfrm>
          <a:prstGeom prst="ellipse">
            <a:avLst/>
          </a:prstGeom>
          <a:solidFill>
            <a:srgbClr val="C8A02C"/>
          </a:solidFill>
        </p:spPr>
      </p:sp>
      <p:sp>
        <p:nvSpPr>
          <p:cNvPr id="11" name="Text 9"/>
          <p:cNvSpPr txBox="1"/>
          <p:nvPr/>
        </p:nvSpPr>
        <p:spPr>
          <a:xfrm>
            <a:off x="822960" y="297180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2706624"/>
            <a:ext cx="99669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 design &amp; implement </a:t>
            </a:r>
            <a:r>
              <a:rPr lang="en-US" sz="145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PCA + SVM pipeline that reduces each image to key features and classifies it into one of 10 digit classes.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3785616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4050792"/>
            <a:ext cx="384048" cy="384048"/>
          </a:xfrm>
          <a:prstGeom prst="ellipse">
            <a:avLst/>
          </a:prstGeom>
          <a:solidFill>
            <a:srgbClr val="C8A02C"/>
          </a:solidFill>
        </p:spPr>
      </p:sp>
      <p:sp>
        <p:nvSpPr>
          <p:cNvPr id="15" name="Text 13"/>
          <p:cNvSpPr txBox="1"/>
          <p:nvPr/>
        </p:nvSpPr>
        <p:spPr>
          <a:xfrm>
            <a:off x="822960" y="405079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3785616"/>
            <a:ext cx="99669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 evaluate </a:t>
            </a:r>
            <a:r>
              <a:rPr lang="en-US" sz="145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model using accuracy, precision, recall and a confusion matrix, compared against a simple baseline.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48640" y="4864608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5129784"/>
            <a:ext cx="384048" cy="384048"/>
          </a:xfrm>
          <a:prstGeom prst="ellipse">
            <a:avLst/>
          </a:prstGeom>
          <a:solidFill>
            <a:srgbClr val="C8A02C"/>
          </a:solidFill>
        </p:spPr>
      </p:sp>
      <p:sp>
        <p:nvSpPr>
          <p:cNvPr id="19" name="Text 17"/>
          <p:cNvSpPr txBox="1"/>
          <p:nvPr/>
        </p:nvSpPr>
        <p:spPr>
          <a:xfrm>
            <a:off x="822960" y="512978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371600" y="4864608"/>
            <a:ext cx="99669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 deploy / demonstrate </a:t>
            </a:r>
            <a:r>
              <a:rPr lang="en-US" sz="145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simple app that loads a digit the user draws in Paint / MS Whiteboard and predicts it using the trained SVM.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943600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416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Tip: objectives and results must match one-to-one at the final review.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Dept. of CSE  |  KL University, Bachupally Campus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8A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6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B2A5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Proposed System Architecture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85800" y="1920240"/>
            <a:ext cx="2286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20" dirty="0">
                <a:solidFill>
                  <a:srgbClr val="1B2A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INPUT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286000"/>
            <a:ext cx="22860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draws a digit in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Paint / MS Whiteboard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182112" y="2404872"/>
            <a:ext cx="201168" cy="310896"/>
          </a:xfrm>
          <a:prstGeom prst="rightArrow">
            <a:avLst/>
          </a:prstGeom>
          <a:solidFill>
            <a:srgbClr val="C8A02C"/>
          </a:solidFill>
          <a:ln w="12700">
            <a:solidFill>
              <a:srgbClr val="C8A02C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3438144" y="169164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3575304" y="1920240"/>
            <a:ext cx="2286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20" dirty="0">
                <a:solidFill>
                  <a:srgbClr val="1B2A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PRE-PROCESSING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575304" y="2286000"/>
            <a:ext cx="22860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Load image, grayscale, resize,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scale, reduce with PCA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71616" y="2404872"/>
            <a:ext cx="201168" cy="310896"/>
          </a:xfrm>
          <a:prstGeom prst="rightArrow">
            <a:avLst/>
          </a:prstGeom>
          <a:solidFill>
            <a:srgbClr val="C8A02C"/>
          </a:solidFill>
          <a:ln w="12700">
            <a:solidFill>
              <a:srgbClr val="C8A02C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327648" y="169164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1B2A55"/>
          </a:solidFill>
          <a:ln w="12700">
            <a:solidFill>
              <a:srgbClr val="1B2A55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6464808" y="1920240"/>
            <a:ext cx="2286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20" dirty="0">
                <a:solidFill>
                  <a:srgbClr val="C8A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MODULE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64808" y="2286000"/>
            <a:ext cx="22860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Trained SVM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classifier (RBF kernel)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961120" y="2404872"/>
            <a:ext cx="201168" cy="310896"/>
          </a:xfrm>
          <a:prstGeom prst="rightArrow">
            <a:avLst/>
          </a:prstGeom>
          <a:solidFill>
            <a:srgbClr val="C8A02C"/>
          </a:solidFill>
          <a:ln w="12700">
            <a:solidFill>
              <a:srgbClr val="C8A02C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9217152" y="169164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9354312" y="1920240"/>
            <a:ext cx="2286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20" dirty="0">
                <a:solidFill>
                  <a:srgbClr val="1B2A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354312" y="2286000"/>
            <a:ext cx="22860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Predicted digit (0-9)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with confidence score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749040"/>
            <a:ext cx="73152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9AA5B8"/>
            </a:solidFill>
            <a:prstDash val="dash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8092440" y="374904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DF6E6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321040" y="3931920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A416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Label every arrow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8321040" y="4251960"/>
            <a:ext cx="306324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arrow should say what flows through it - raw image, cleaned CSV, feature vector, JSON response. Unlabelled arrows invite questions you cannot answer.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Dept. of CSE  |  KL University, Bachupally Campus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950" dirty="0"/>
          </a:p>
        </p:txBody>
      </p:sp>
      <p:sp>
        <p:nvSpPr>
          <p:cNvPr id="26" name="Rounded Rectangle 25"/>
          <p:cNvSpPr/>
          <p:nvPr/>
        </p:nvSpPr>
        <p:spPr>
          <a:xfrm>
            <a:off x="685800" y="4187952"/>
            <a:ext cx="1320393" cy="868680"/>
          </a:xfrm>
          <a:prstGeom prst="roundRect">
            <a:avLst/>
          </a:prstGeom>
          <a:solidFill>
            <a:srgbClr val="E1EFFC"/>
          </a:solidFill>
          <a:ln>
            <a:solidFill>
              <a:srgbClr val="AFC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36576" rIns="45720" bIns="36576" rtlCol="0" anchor="ctr"/>
          <a:lstStyle/>
          <a:p>
            <a:pPr algn="ctr">
              <a:defRPr sz="1300" b="1">
                <a:solidFill>
                  <a:srgbClr val="193755"/>
                </a:solidFill>
              </a:defRPr>
            </a:pPr>
            <a:r>
              <a:t>Drawn image</a:t>
            </a:r>
          </a:p>
          <a:p>
            <a:pPr algn="ctr">
              <a:defRPr sz="900">
                <a:solidFill>
                  <a:srgbClr val="415064"/>
                </a:solidFill>
              </a:defRPr>
            </a:pPr>
            <a:r>
              <a:t>PNG/JPG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987905" y="4480560"/>
            <a:ext cx="182880" cy="237744"/>
          </a:xfrm>
          <a:prstGeom prst="rightArrow">
            <a:avLst/>
          </a:prstGeom>
          <a:solidFill>
            <a:srgbClr val="5F7D9B"/>
          </a:solidFill>
          <a:ln>
            <a:solidFill>
              <a:srgbClr val="5F7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115921" y="4187952"/>
            <a:ext cx="1320393" cy="868680"/>
          </a:xfrm>
          <a:prstGeom prst="roundRect">
            <a:avLst/>
          </a:prstGeom>
          <a:solidFill>
            <a:srgbClr val="E6F5EF"/>
          </a:solidFill>
          <a:ln>
            <a:solidFill>
              <a:srgbClr val="AFC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36576" rIns="45720" bIns="36576" rtlCol="0" anchor="ctr"/>
          <a:lstStyle/>
          <a:p>
            <a:pPr algn="ctr">
              <a:defRPr sz="1300" b="1">
                <a:solidFill>
                  <a:srgbClr val="193755"/>
                </a:solidFill>
              </a:defRPr>
            </a:pPr>
            <a:r>
              <a:t>Preprocess</a:t>
            </a:r>
          </a:p>
          <a:p>
            <a:pPr algn="ctr">
              <a:defRPr sz="900">
                <a:solidFill>
                  <a:srgbClr val="415064"/>
                </a:solidFill>
              </a:defRPr>
            </a:pPr>
            <a:r>
              <a:t>grayscale • resize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3418026" y="4480560"/>
            <a:ext cx="182880" cy="237744"/>
          </a:xfrm>
          <a:prstGeom prst="rightArrow">
            <a:avLst/>
          </a:prstGeom>
          <a:solidFill>
            <a:srgbClr val="5F7D9B"/>
          </a:solidFill>
          <a:ln>
            <a:solidFill>
              <a:srgbClr val="5F7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546042" y="4187952"/>
            <a:ext cx="1320393" cy="868680"/>
          </a:xfrm>
          <a:prstGeom prst="roundRect">
            <a:avLst/>
          </a:prstGeom>
          <a:solidFill>
            <a:srgbClr val="F5EFFC"/>
          </a:solidFill>
          <a:ln>
            <a:solidFill>
              <a:srgbClr val="AFC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36576" rIns="45720" bIns="36576" rtlCol="0" anchor="ctr"/>
          <a:lstStyle/>
          <a:p>
            <a:pPr algn="ctr">
              <a:defRPr sz="1300" b="1">
                <a:solidFill>
                  <a:srgbClr val="193755"/>
                </a:solidFill>
              </a:defRPr>
            </a:pPr>
            <a:r>
              <a:t>Feature vector</a:t>
            </a:r>
          </a:p>
          <a:p>
            <a:pPr algn="ctr">
              <a:defRPr sz="900">
                <a:solidFill>
                  <a:srgbClr val="415064"/>
                </a:solidFill>
              </a:defRPr>
            </a:pPr>
            <a:r>
              <a:t>flatten + PCA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4848147" y="4480560"/>
            <a:ext cx="182880" cy="237744"/>
          </a:xfrm>
          <a:prstGeom prst="rightArrow">
            <a:avLst/>
          </a:prstGeom>
          <a:solidFill>
            <a:srgbClr val="5F7D9B"/>
          </a:solidFill>
          <a:ln>
            <a:solidFill>
              <a:srgbClr val="5F7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976163" y="4187952"/>
            <a:ext cx="1320393" cy="868680"/>
          </a:xfrm>
          <a:prstGeom prst="roundRect">
            <a:avLst/>
          </a:prstGeom>
          <a:solidFill>
            <a:srgbClr val="FFF2E0"/>
          </a:solidFill>
          <a:ln>
            <a:solidFill>
              <a:srgbClr val="AFC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36576" rIns="45720" bIns="36576" rtlCol="0" anchor="ctr"/>
          <a:lstStyle/>
          <a:p>
            <a:pPr algn="ctr">
              <a:defRPr sz="1300" b="1">
                <a:solidFill>
                  <a:srgbClr val="193755"/>
                </a:solidFill>
              </a:defRPr>
            </a:pPr>
            <a:r>
              <a:t>SVM inference</a:t>
            </a:r>
          </a:p>
          <a:p>
            <a:pPr algn="ctr">
              <a:defRPr sz="900">
                <a:solidFill>
                  <a:srgbClr val="415064"/>
                </a:solidFill>
              </a:defRPr>
            </a:pPr>
            <a:r>
              <a:t>RBF classifier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6278268" y="4480560"/>
            <a:ext cx="182880" cy="237744"/>
          </a:xfrm>
          <a:prstGeom prst="rightArrow">
            <a:avLst/>
          </a:prstGeom>
          <a:solidFill>
            <a:srgbClr val="5F7D9B"/>
          </a:solidFill>
          <a:ln>
            <a:solidFill>
              <a:srgbClr val="5F7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406284" y="4187952"/>
            <a:ext cx="1320393" cy="868680"/>
          </a:xfrm>
          <a:prstGeom prst="roundRect">
            <a:avLst/>
          </a:prstGeom>
          <a:solidFill>
            <a:srgbClr val="E1EFFC"/>
          </a:solidFill>
          <a:ln>
            <a:solidFill>
              <a:srgbClr val="AFC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36576" rIns="45720" bIns="36576" rtlCol="0" anchor="ctr"/>
          <a:lstStyle/>
          <a:p>
            <a:pPr algn="ctr">
              <a:defRPr sz="1300" b="1">
                <a:solidFill>
                  <a:srgbClr val="193755"/>
                </a:solidFill>
              </a:defRPr>
            </a:pPr>
            <a:r>
              <a:t>Prediction</a:t>
            </a:r>
          </a:p>
          <a:p>
            <a:pPr algn="ctr">
              <a:defRPr sz="900">
                <a:solidFill>
                  <a:srgbClr val="415064"/>
                </a:solidFill>
              </a:defRPr>
            </a:pPr>
            <a:r>
              <a:t>digit 0–9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5166360"/>
            <a:ext cx="7040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415064"/>
                </a:solidFill>
              </a:defRPr>
            </a:pPr>
            <a:r>
              <a:t>Online path: user drawing → preprocessing → PCA features → trained SVM → predicted digit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8A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7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B2A5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Methodology &amp; Modules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411480" cy="411480"/>
          </a:xfrm>
          <a:prstGeom prst="ellipse">
            <a:avLst/>
          </a:prstGeom>
          <a:solidFill>
            <a:srgbClr val="1B2A55"/>
          </a:solidFill>
        </p:spPr>
      </p:sp>
      <p:sp>
        <p:nvSpPr>
          <p:cNvPr id="6" name="Text 4"/>
          <p:cNvSpPr txBox="1"/>
          <p:nvPr/>
        </p:nvSpPr>
        <p:spPr>
          <a:xfrm>
            <a:off x="822960" y="173736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8A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755648"/>
            <a:ext cx="42062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Module 1 - Data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331720"/>
            <a:ext cx="4800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MNIST dataset (70,000 images of digits 0-9), loaded via scikit-learn, split 60k train / 10k test.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4630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0" y="1737360"/>
            <a:ext cx="411480" cy="411480"/>
          </a:xfrm>
          <a:prstGeom prst="ellipse">
            <a:avLst/>
          </a:prstGeom>
          <a:solidFill>
            <a:srgbClr val="1B2A55"/>
          </a:solidFill>
        </p:spPr>
      </p:sp>
      <p:sp>
        <p:nvSpPr>
          <p:cNvPr id="11" name="Text 9"/>
          <p:cNvSpPr txBox="1"/>
          <p:nvPr/>
        </p:nvSpPr>
        <p:spPr>
          <a:xfrm>
            <a:off x="6492240" y="173736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8A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086600" y="1755648"/>
            <a:ext cx="42062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Module 2 - Processing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2331720"/>
            <a:ext cx="4800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Convert the drawn image to grayscale, resize it to 28x28, scale the pixels, flatten to a vector, then reduce dimensions using PCA.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70332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3977640"/>
            <a:ext cx="411480" cy="411480"/>
          </a:xfrm>
          <a:prstGeom prst="ellipse">
            <a:avLst/>
          </a:prstGeom>
          <a:solidFill>
            <a:srgbClr val="1B2A55"/>
          </a:solidFill>
        </p:spPr>
      </p:sp>
      <p:sp>
        <p:nvSpPr>
          <p:cNvPr id="16" name="Text 14"/>
          <p:cNvSpPr txBox="1"/>
          <p:nvPr/>
        </p:nvSpPr>
        <p:spPr>
          <a:xfrm>
            <a:off x="822960" y="397764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8A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3995928"/>
            <a:ext cx="42062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Module 3 - Core Logic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572000"/>
            <a:ext cx="4800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Support Vector Machine (RBF kernel), chosen for strong accuracy on reduced-feature digit data; compared with a Logistic Regression baseline.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17920" y="370332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0" y="3977640"/>
            <a:ext cx="411480" cy="411480"/>
          </a:xfrm>
          <a:prstGeom prst="ellipse">
            <a:avLst/>
          </a:prstGeom>
          <a:solidFill>
            <a:srgbClr val="1B2A55"/>
          </a:solidFill>
        </p:spPr>
      </p:sp>
      <p:sp>
        <p:nvSpPr>
          <p:cNvPr id="21" name="Text 19"/>
          <p:cNvSpPr txBox="1"/>
          <p:nvPr/>
        </p:nvSpPr>
        <p:spPr>
          <a:xfrm>
            <a:off x="6492240" y="397764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8A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3995928"/>
            <a:ext cx="42062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Module 4 - Interface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4572000"/>
            <a:ext cx="4800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user draws a digit in MS Paint / Whiteboard and saves it as an image; the Python program loads it and the trained model displays the predicted digit.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Dept. of CSE  |  KL University, Bachupally Campus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8A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8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B2A5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Tools and Technologies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68680" y="1691640"/>
            <a:ext cx="4709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80" dirty="0">
                <a:solidFill>
                  <a:srgbClr val="C8A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SOFTWARE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03120"/>
            <a:ext cx="4709160" cy="3200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500"/>
              <a:t>Language: Python 3.12 (project virtual environment)</a:t>
            </a:r>
            <a:br>
              <a:rPr sz="1500"/>
            </a:br>
            <a:r>
              <a:rPr sz="1500"/>
              <a:t>Libraries: Streamlit, streamlit-drawable-canvas, scikit-learn, NumPy, Pillow, Joblib, Matplotlib</a:t>
            </a:r>
            <a:br>
              <a:rPr sz="1500"/>
            </a:br>
            <a:r>
              <a:rPr sz="1500"/>
              <a:t>Dataset: MNIST (downloaded by training script)</a:t>
            </a:r>
            <a:br>
              <a:rPr sz="1500"/>
            </a:br>
            <a:r>
              <a:rPr sz="1500"/>
              <a:t>Interface: Streamlit web app with drawing canvas</a:t>
            </a:r>
            <a:br>
              <a:rPr sz="1500"/>
            </a:br>
            <a:r>
              <a:rPr sz="1500"/>
              <a:t>Model: PCA + SVM (RBF); Logistic Regression comparison</a:t>
            </a:r>
            <a:br>
              <a:rPr sz="1500"/>
            </a:br>
            <a:r>
              <a:rPr sz="1500"/>
              <a:t>IDE / Tools: VS Code, Git, GitHub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537960" y="1691640"/>
            <a:ext cx="4709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80" dirty="0">
                <a:solidFill>
                  <a:srgbClr val="C8A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HARDWARE / PLATFORM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103120"/>
            <a:ext cx="4709160" cy="3200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500"/>
              <a:t>Platform: Local Windows laptop</a:t>
            </a:r>
            <a:br>
              <a:rPr sz="1500"/>
            </a:br>
            <a:r>
              <a:rPr sz="1500"/>
              <a:t>Execution: CPU-based; no GPU required</a:t>
            </a:r>
            <a:br>
              <a:rPr sz="1500"/>
            </a:br>
            <a:r>
              <a:rPr sz="1500"/>
              <a:t>Input device: Mouse / touchpad</a:t>
            </a:r>
            <a:br>
              <a:rPr sz="1500"/>
            </a:br>
            <a:r>
              <a:rPr sz="1500"/>
              <a:t>Model artifact: Joblib (.joblib)</a:t>
            </a:r>
            <a:br>
              <a:rPr sz="1500"/>
            </a:br>
            <a:r>
              <a:rPr sz="1500"/>
              <a:t>Evaluation output: metrics.json</a:t>
            </a:r>
            <a:br>
              <a:rPr sz="1500"/>
            </a:br>
            <a:r>
              <a:rPr sz="1500"/>
              <a:t>Repository: github.com/boomikaa-20/Handwritten-Digit-ML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Dept. of CSE  |  KL University, Bachupally Campus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8A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9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B2A5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Work Completed / Demo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852160" cy="566928"/>
          </a:xfrm>
          <a:prstGeom prst="roundRect">
            <a:avLst>
              <a:gd name="adj" fmla="val 12903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77240" y="1655064"/>
            <a:ext cx="182880" cy="182880"/>
          </a:xfrm>
          <a:prstGeom prst="ellipse">
            <a:avLst/>
          </a:prstGeom>
          <a:solidFill>
            <a:srgbClr val="1E7A46"/>
          </a:solidFill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1097280" y="1463040"/>
            <a:ext cx="32918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Literature survey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4480560" y="1463040"/>
            <a:ext cx="16916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300" b="1">
                <a:solidFill>
                  <a:srgbClr val="785A23"/>
                </a:solidFill>
              </a:rPr>
              <a:t>Draft prepared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176272"/>
            <a:ext cx="5852160" cy="566928"/>
          </a:xfrm>
          <a:prstGeom prst="roundRect">
            <a:avLst>
              <a:gd name="adj" fmla="val 12903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777240" y="2368296"/>
            <a:ext cx="182880" cy="182880"/>
          </a:xfrm>
          <a:prstGeom prst="ellipse">
            <a:avLst/>
          </a:prstGeom>
          <a:solidFill>
            <a:srgbClr val="1E7A46"/>
          </a:solidFill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1097280" y="2176272"/>
            <a:ext cx="32918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 collection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4480560" y="2176272"/>
            <a:ext cx="16916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300" b="1">
                <a:solidFill>
                  <a:srgbClr val="23694E"/>
                </a:solidFill>
              </a:rPr>
              <a:t>Completed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889504"/>
            <a:ext cx="5852160" cy="566928"/>
          </a:xfrm>
          <a:prstGeom prst="roundRect">
            <a:avLst>
              <a:gd name="adj" fmla="val 12903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777240" y="3081528"/>
            <a:ext cx="182880" cy="182880"/>
          </a:xfrm>
          <a:prstGeom prst="ellipse">
            <a:avLst/>
          </a:prstGeom>
          <a:solidFill>
            <a:srgbClr val="C8A02C"/>
          </a:solidFill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1097280" y="2889504"/>
            <a:ext cx="32918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Pre-processing pipeline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4480560" y="2889504"/>
            <a:ext cx="16916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300" b="1">
                <a:solidFill>
                  <a:srgbClr val="23694E"/>
                </a:solidFill>
              </a:rPr>
              <a:t>Implemented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602736"/>
            <a:ext cx="5852160" cy="566928"/>
          </a:xfrm>
          <a:prstGeom prst="roundRect">
            <a:avLst>
              <a:gd name="adj" fmla="val 12903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77240" y="3794760"/>
            <a:ext cx="182880" cy="182880"/>
          </a:xfrm>
          <a:prstGeom prst="ellipse">
            <a:avLst/>
          </a:prstGeom>
          <a:solidFill>
            <a:srgbClr val="C8A02C"/>
          </a:solidFill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1097280" y="3602736"/>
            <a:ext cx="32918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training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4480560" y="3602736"/>
            <a:ext cx="16916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300" b="1">
                <a:solidFill>
                  <a:srgbClr val="23694E"/>
                </a:solidFill>
              </a:rPr>
              <a:t>Implemented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315968"/>
            <a:ext cx="5852160" cy="566928"/>
          </a:xfrm>
          <a:prstGeom prst="roundRect">
            <a:avLst>
              <a:gd name="adj" fmla="val 12903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777240" y="4507992"/>
            <a:ext cx="182880" cy="182880"/>
          </a:xfrm>
          <a:prstGeom prst="ellipse">
            <a:avLst/>
          </a:prstGeom>
          <a:solidFill>
            <a:srgbClr val="6B7280"/>
          </a:solidFill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1097280" y="4315968"/>
            <a:ext cx="32918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Drawn-image input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4480560" y="4315968"/>
            <a:ext cx="16916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300" b="1">
                <a:solidFill>
                  <a:srgbClr val="23694E"/>
                </a:solidFill>
              </a:rPr>
              <a:t>Working canvas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029200"/>
            <a:ext cx="5852160" cy="566928"/>
          </a:xfrm>
          <a:prstGeom prst="roundRect">
            <a:avLst>
              <a:gd name="adj" fmla="val 12903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777240" y="5221224"/>
            <a:ext cx="182880" cy="182880"/>
          </a:xfrm>
          <a:prstGeom prst="ellipse">
            <a:avLst/>
          </a:prstGeom>
          <a:solidFill>
            <a:srgbClr val="6B7280"/>
          </a:solidFill>
        </p:spPr>
        <p:txBody>
          <a:bodyPr/>
          <a:p/>
        </p:txBody>
      </p:sp>
      <p:sp>
        <p:nvSpPr>
          <p:cNvPr id="26" name="Text 24"/>
          <p:cNvSpPr txBox="1"/>
          <p:nvPr/>
        </p:nvSpPr>
        <p:spPr>
          <a:xfrm>
            <a:off x="1097280" y="5029200"/>
            <a:ext cx="32918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Testing &amp; evaluation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4480560" y="5029200"/>
            <a:ext cx="16916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300" b="1">
                <a:solidFill>
                  <a:srgbClr val="23694E"/>
                </a:solidFill>
              </a:rPr>
              <a:t>Metrics available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675120" y="1463040"/>
            <a:ext cx="493776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9AA5B8"/>
            </a:solidFill>
            <a:prstDash val="dash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6675120" y="4892040"/>
            <a:ext cx="4937760" cy="1005840"/>
          </a:xfrm>
          <a:prstGeom prst="roundRect">
            <a:avLst>
              <a:gd name="adj" fmla="val 7273"/>
            </a:avLst>
          </a:prstGeom>
          <a:solidFill>
            <a:srgbClr val="FDF6E6"/>
          </a:solidFill>
          <a:ln w="12700">
            <a:solidFill>
              <a:srgbClr val="DDE3EC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 txBox="1"/>
          <p:nvPr/>
        </p:nvSpPr>
        <p:spPr>
          <a:xfrm>
            <a:off x="6903720" y="5029200"/>
            <a:ext cx="44805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00"/>
              <a:t>Evidence shown: sample drawn digits and the model's 28×28 preprocessing preview. The app has been launched and tested locally.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Dept. of CSE  |  KL University, Bachupally Campus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950" dirty="0"/>
          </a:p>
        </p:txBody>
      </p:sp>
      <p:pic>
        <p:nvPicPr>
          <p:cNvPr id="34" name="Picture 33" descr="project_demo_asset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0" y="1463040"/>
            <a:ext cx="4663440" cy="32461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8A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10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B2A5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Timeline &amp; Review Plan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645920" y="2880360"/>
            <a:ext cx="8915400" cy="0"/>
          </a:xfrm>
          <a:prstGeom prst="line">
            <a:avLst/>
          </a:prstGeom>
          <a:noFill/>
          <a:ln w="38100">
            <a:solidFill>
              <a:srgbClr val="DDE3EC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444752" y="2679192"/>
            <a:ext cx="402336" cy="402336"/>
          </a:xfrm>
          <a:prstGeom prst="ellipse">
            <a:avLst/>
          </a:prstGeom>
          <a:solidFill>
            <a:srgbClr val="A4161A"/>
          </a:solidFill>
          <a:ln w="25400">
            <a:solidFill>
              <a:srgbClr val="A4161A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457200" y="214884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400" b="1">
                <a:solidFill>
                  <a:srgbClr val="23694E"/>
                </a:solidFill>
              </a:rPr>
              <a:t>Review 0  ✓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20040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20" dirty="0">
                <a:solidFill>
                  <a:srgbClr val="C8A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Week 2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20040" y="3520440"/>
            <a:ext cx="26517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Title, abstract, team roles finalised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16552" y="2679192"/>
            <a:ext cx="402336" cy="402336"/>
          </a:xfrm>
          <a:prstGeom prst="ellipse">
            <a:avLst/>
          </a:prstGeom>
          <a:solidFill>
            <a:srgbClr val="A4161A"/>
          </a:solidFill>
          <a:ln w="25400">
            <a:solidFill>
              <a:srgbClr val="A4161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3429000" y="214884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400" b="1">
                <a:solidFill>
                  <a:srgbClr val="23694E"/>
                </a:solidFill>
              </a:rPr>
              <a:t>Review 1  ✓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320040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20" dirty="0">
                <a:solidFill>
                  <a:srgbClr val="C8A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Week 5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291840" y="3520440"/>
            <a:ext cx="26517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Literature survey, gap, objectives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388352" y="2679192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9AA5B8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6400800" y="214884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400" b="1">
                <a:solidFill>
                  <a:srgbClr val="285A96"/>
                </a:solidFill>
              </a:rPr>
              <a:t>Review 2  • CURRENT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320040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20" dirty="0">
                <a:solidFill>
                  <a:srgbClr val="C8A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Week 9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3520440"/>
            <a:ext cx="26517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300"/>
              <a:t>Architecture, working canvas, trained model and evaluation page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10360152" y="2679192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9AA5B8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9372600" y="214884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400" b="1"/>
              <a:t>Final  • PLANNED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372600" y="320040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20" dirty="0">
                <a:solidFill>
                  <a:srgbClr val="C8A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Week 14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9235440" y="3520440"/>
            <a:ext cx="26517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300"/>
              <a:t>Final demo, verified results, report and presentation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434840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100" b="0"/>
              <a:t>Status at 13 Oct 2026: Review 0 and Review 1 milestones are treated as completed; Review 2 is the current implementation review; Final review remains planned.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93776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DF6E6"/>
          </a:solidFill>
          <a:ln w="12700">
            <a:solidFill>
              <a:srgbClr val="DDE3EC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868680" y="4937760"/>
            <a:ext cx="1042416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/>
              <a:t>Progress now: the Streamlit canvas, prediction pipeline, saved model artefacts and evaluation metrics are in place. Remaining: verify final metrics, test the moved web-app folder, and rehearse the demo.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Dept. of CSE  |  KL University, Bachupally Campus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8A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11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B2A5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Expected Outcome &amp; Conclusion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22960" y="1691640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A416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DELIVERABLE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57400"/>
            <a:ext cx="29718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500"/>
              <a:t>A working Streamlit app where users draw a digit (0–9) and receive a model prediction.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297680" y="146304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1B2A55"/>
          </a:solidFill>
          <a:ln w="12700">
            <a:solidFill>
              <a:srgbClr val="1B2A55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4572000" y="1691640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C8A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MEASURABLE TARGET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057400"/>
            <a:ext cx="29718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500">
                <a:solidFill>
                  <a:schemeClr val="bg1"/>
                </a:solidFill>
              </a:rPr>
              <a:t>Report the measured MNIST test metrics from metrics.json; target above 95% accuracy and sub-second prediction on the local machine.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8046720" y="146304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8321040" y="1691640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A416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BEYOND THE LAB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321040" y="2057400"/>
            <a:ext cx="29718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5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Students learning ML, and as a building block for character recognition, document scanning and digital form processing.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11064240" cy="1920240"/>
          </a:xfrm>
          <a:prstGeom prst="roundRect">
            <a:avLst>
              <a:gd name="adj" fmla="val 3810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868680" y="4160520"/>
            <a:ext cx="10424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8A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4480560"/>
            <a:ext cx="1042416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/>
              <a:t>This project combines PCA-based feature reduction and an SVM classifier with a Streamlit drawing interface. The user can draw a digit, view a prediction, and inspect model evaluation outputs. The current scope is single-digit recognition; future work could explore multi-digit input and deployment monitoring.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Dept. of CSE  |  KL University, Bachupally Campus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8A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12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B2A5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References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IEEE style, numbered in the order they are cited in the slides. Minimum 8 references for a minor project - these are format examples only.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11064240" cy="3657600"/>
          </a:xfrm>
          <a:prstGeom prst="roundRect">
            <a:avLst>
              <a:gd name="adj" fmla="val 2000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783080"/>
            <a:ext cx="10424160" cy="3246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[1]  M. N. Al-Hamadani, "Classification and analysis of the MNIST dataset using PCA and SVM algorithms," Vojnotehnicki Glasnik, vol. 71, no. 2, pp. 221-238, 2023.</a:t>
            </a:r>
            <a:endParaRPr lang="en-US" sz="10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[2]  A. Das, T. Kundu, and C. Saravanan, "Dimensionality reduction for handwritten digit recognition," EAI Endorsed Trans. Cloud Systems, vol. 4, no. 13, 2018.</a:t>
            </a:r>
            <a:endParaRPr lang="en-US" sz="10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[3]  M. Mohammadpoor, A. Mehdizadeh, and H. Alizadeh Noghabi, "A novel method for Persian handwritten digit recognition using support vector machine," Majlesi J. Electrical Engineering, vol. 12, no. 3, pp. 63-68, 2018.</a:t>
            </a:r>
            <a:endParaRPr lang="en-US" sz="10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[4]  D. Ismailova and W.-S. Lu, "Fast classification of handwritten digits using 2D-DCT based sparse PCA," in Proc. IEEE Pacific Rim Conf. Communications, Computers and Signal Processing (PACRIM), 2015.</a:t>
            </a:r>
            <a:endParaRPr lang="en-US" sz="10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[5]  Y. LeCun, C. Cortes, and C. J. Burges, "MNIST handwritten digit database," 1998. [Online]. Available: http://yann.lecun.com/exdb/mnist/ [Accessed: 18-Sep-2026].</a:t>
            </a:r>
            <a:endParaRPr lang="en-US" sz="10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[6]  F. Pedregosa et al., "Scikit-learn: Machine learning in Python," Journal of Machine Learning Research, vol. 12, pp. 2825-2830, 2011.</a:t>
            </a:r>
            <a:endParaRPr lang="en-US" sz="10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[7]  C. Cortes and V. Vapnik, "Support-vector networks," Machine Learning, vol. 20, no. 3, pp. 273-297, 1995.</a:t>
            </a:r>
            <a:endParaRPr lang="en-US" sz="10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[8]  I. T. Jolliffe, Principal Component Analysis, 2nd ed. New York, NY, USA: Springer, 2002.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44068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A416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reference listed here must appear in the literature survey table, and every row of that table must appear here.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Dept. of CSE  |  KL University, Bachupally Campus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0312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1546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8A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Questions &amp; Suggestions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22960" y="3977640"/>
            <a:ext cx="2926080" cy="0"/>
          </a:xfrm>
          <a:prstGeom prst="line">
            <a:avLst/>
          </a:prstGeom>
          <a:noFill/>
          <a:ln w="25400">
            <a:solidFill>
              <a:srgbClr val="2E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425196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AEBB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Team: 19</a:t>
            </a:r>
            <a:endParaRPr lang="en-US" sz="1400" dirty="0">
              <a:solidFill>
                <a:srgbClr val="AEBBD6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r>
              <a:rPr lang="en-US" sz="1400" dirty="0">
                <a:solidFill>
                  <a:srgbClr val="AEBB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 Boomika Sre, P. Nehasree   |   Guide: Mr. Raghavendra &gt;   |   Dept. of CSE, KLH Bachupally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10586</Words>
  <Application>WPS Presentation</Application>
  <PresentationFormat>Widescreen</PresentationFormat>
  <Paragraphs>479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9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Microsoft YaHei</vt:lpstr>
      <vt:lpstr>Arial Unicode MS</vt:lpstr>
      <vt:lpstr>Aptos</vt:lpstr>
      <vt:lpstr>Segoe UI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Minor Project - Model Review Presentation</dc:title>
  <dc:creator>Dept. of CSE, KLH Bachupally</dc:creator>
  <dc:subject>PptxGenJS Presentation</dc:subject>
  <cp:lastModifiedBy>Boomika Sre Gudivada</cp:lastModifiedBy>
  <cp:revision>7</cp:revision>
  <dcterms:created xsi:type="dcterms:W3CDTF">2026-09-16T05:47:00Z</dcterms:created>
  <dcterms:modified xsi:type="dcterms:W3CDTF">2026-10-12T16:54:50Z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B6E648EE5C7C4B3F84C7A89F572DE08B_12</vt:lpwstr>
  </property>
  <property fmtid="{D5CDD505-2E9C-101B-9397-08002B2CF9AE}" pid="3" name="KSOProductBuildVer">
    <vt:lpwstr>1033-12.1.0.28485</vt:lpwstr>
  </property>
</Properties>
</file>